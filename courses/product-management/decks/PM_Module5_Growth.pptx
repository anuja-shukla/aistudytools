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Retained users (%)</c:v>
                </c:pt>
              </c:strCache>
            </c:strRef>
          </c:tx>
          <c:spPr>
            <a:solidFill>
              <a:srgbClr val="0F8B8D"/>
            </a:solidFill>
            <a:ln w="38100" cap="flat">
              <a:solidFill>
                <a:srgbClr val="0F8B8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8B8D"/>
              </a:solidFill>
              <a:ln w="9525" cap="flat">
                <a:solidFill>
                  <a:srgbClr val="0F8B8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P0</c:v>
                  </c:pt>
                  <c:pt idx="1">
                    <c:v>P1</c:v>
                  </c:pt>
                  <c:pt idx="2">
                    <c:v>P2</c:v>
                  </c:pt>
                  <c:pt idx="3">
                    <c:v>P3</c:v>
                  </c:pt>
                  <c:pt idx="4">
                    <c:v>P4</c:v>
                  </c:pt>
                  <c:pt idx="5">
                    <c:v>P5</c:v>
                  </c:pt>
                  <c:pt idx="6">
                    <c:v>P6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46</c:v>
                </c:pt>
                <c:pt idx="2">
                  <c:v>33</c:v>
                </c:pt>
                <c:pt idx="3">
                  <c:v>28</c:v>
                </c:pt>
                <c:pt idx="4">
                  <c:v>26</c:v>
                </c:pt>
                <c:pt idx="5">
                  <c:v>25</c:v>
                </c:pt>
                <c:pt idx="6">
                  <c:v>25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 fit (falls to zero)</c:v>
                </c:pt>
              </c:strCache>
            </c:strRef>
          </c:tx>
          <c:spPr>
            <a:solidFill>
              <a:srgbClr val="E07A1F"/>
            </a:solidFill>
            <a:ln w="38100" cap="flat">
              <a:solidFill>
                <a:srgbClr val="E07A1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7A1F"/>
              </a:solidFill>
              <a:ln w="9525" cap="flat">
                <a:solidFill>
                  <a:srgbClr val="E07A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P0</c:v>
                  </c:pt>
                  <c:pt idx="1">
                    <c:v>P1</c:v>
                  </c:pt>
                  <c:pt idx="2">
                    <c:v>P2</c:v>
                  </c:pt>
                  <c:pt idx="3">
                    <c:v>P3</c:v>
                  </c:pt>
                  <c:pt idx="4">
                    <c:v>P4</c:v>
                  </c:pt>
                  <c:pt idx="5">
                    <c:v>P5</c:v>
                  </c:pt>
                  <c:pt idx="6">
                    <c:v>P6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100</c:v>
                </c:pt>
                <c:pt idx="1">
                  <c:v>40</c:v>
                </c:pt>
                <c:pt idx="2">
                  <c:v>20</c:v>
                </c:pt>
                <c:pt idx="3">
                  <c:v>10</c:v>
                </c:pt>
                <c:pt idx="4">
                  <c:v>5</c:v>
                </c:pt>
                <c:pt idx="5">
                  <c:v>2</c:v>
                </c:pt>
                <c:pt idx="6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Shipping is the start, not the finish.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 the leakiest stage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numbers for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Newer cohorts above older ones means the product is improving.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India has issued guidelines against dark patterns; ask students to check current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94960"/>
            <a:ext cx="12188952" cy="109728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463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Product Management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Launch, Growth, and Product Analytics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products to market, measure what matters, and grow responsibly.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5760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/ PGDM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· Module 5 · Growth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68712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10725912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 go-to-market and launch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pricing and packaging model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growth with AARRR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retention, churn, and cohorts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A/B test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and avoid dark patterns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models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· Module 5 · Growth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68712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08760"/>
          <a:ext cx="10725912" cy="914400"/>
        </p:xfrm>
        <a:graphic>
          <a:graphicData uri="http://schemas.openxmlformats.org/drawingml/2006/table">
            <a:tbl>
              <a:tblPr/>
              <a:tblGrid>
                <a:gridCol w="3575304"/>
                <a:gridCol w="3575304"/>
                <a:gridCol w="3575304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 well when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Subscription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 value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Freemium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tier creates value and upgrade reasons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few convert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Segments value features differently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choice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Usage-based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scales with use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Unpredictable bills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AARRR funnel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· Module 5 · Growth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68712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658368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63040"/>
            <a:ext cx="6583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589520" y="14630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arrive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4440" y="2404872"/>
            <a:ext cx="5577840" cy="868680"/>
          </a:xfrm>
          <a:prstGeom prst="rect">
            <a:avLst/>
          </a:prstGeom>
          <a:solidFill>
            <a:srgbClr val="0F8B8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2404872"/>
            <a:ext cx="5577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589520" y="2404872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real value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737360" y="3346704"/>
            <a:ext cx="457200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0" y="3346704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589520" y="3346704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come back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240280" y="4288536"/>
            <a:ext cx="3566160" cy="868680"/>
          </a:xfrm>
          <a:prstGeom prst="rect">
            <a:avLst/>
          </a:prstGeom>
          <a:solidFill>
            <a:srgbClr val="0F8B8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40280" y="4288536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589520" y="4288536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bring others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743200" y="5230368"/>
            <a:ext cx="256032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0" y="523036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589520" y="5230368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pay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product metrics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· Module 5 · Growth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68712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08760"/>
          <a:ext cx="10725912" cy="914400"/>
        </p:xfrm>
        <a:graphic>
          <a:graphicData uri="http://schemas.openxmlformats.org/drawingml/2006/table">
            <a:tbl>
              <a:tblPr/>
              <a:tblGrid>
                <a:gridCol w="3575304"/>
                <a:gridCol w="3575304"/>
                <a:gridCol w="3575304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Activation rate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Activated ÷ sign-ups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 ÷ 1,000 = 60%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Week-4 retention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in wk 4 ÷ cohort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 ÷ 1,000 = 25%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churn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 lost ÷ start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÷ 1,000 = 5%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Stickiness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DAU ÷ MAU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30k ÷ 120k = 25%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cohort retention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· Module 5 · Growth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68712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31520" y="137160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8046720" y="146304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F3F6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0" y="146304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0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Sign-up cohort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8046720" y="256032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DDF1F0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0" y="256032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drop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8046720" y="365760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F3F6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0" y="365760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cohorts sit higher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8046720" y="475488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DDF1F0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0" y="475488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Flattening = loyal core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731520" y="585216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shape, not real data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an A/B test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· Module 5 · Growth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68712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1962302" cy="2377440"/>
          </a:xfrm>
          <a:prstGeom prst="roundRect">
            <a:avLst>
              <a:gd name="adj" fmla="val 5592"/>
            </a:avLst>
          </a:prstGeom>
          <a:solidFill>
            <a:srgbClr val="F3F6F9"/>
          </a:solidFill>
          <a:ln w="19050">
            <a:solidFill>
              <a:srgbClr val="0F8B8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38351" y="1874520"/>
            <a:ext cx="548640" cy="548640"/>
          </a:xfrm>
          <a:prstGeom prst="ellipse">
            <a:avLst/>
          </a:prstGeom>
          <a:solidFill>
            <a:srgbClr val="E07A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38351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606040"/>
            <a:ext cx="177942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68680" y="3337560"/>
            <a:ext cx="168798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If… then… because…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712110" y="3246120"/>
            <a:ext cx="192024" cy="274320"/>
          </a:xfrm>
          <a:prstGeom prst="rightArrow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2422" y="2194560"/>
            <a:ext cx="1962302" cy="2377440"/>
          </a:xfrm>
          <a:prstGeom prst="roundRect">
            <a:avLst>
              <a:gd name="adj" fmla="val 5592"/>
            </a:avLst>
          </a:prstGeom>
          <a:solidFill>
            <a:srgbClr val="DDF1F0"/>
          </a:solidFill>
          <a:ln w="19050">
            <a:solidFill>
              <a:srgbClr val="0F8B8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29254" y="1874520"/>
            <a:ext cx="548640" cy="548640"/>
          </a:xfrm>
          <a:prstGeom prst="ellipse">
            <a:avLst/>
          </a:prstGeom>
          <a:solidFill>
            <a:srgbClr val="E07A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29254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013862" y="2606040"/>
            <a:ext cx="177942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059582" y="3337560"/>
            <a:ext cx="168798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primary + guardrails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903013" y="3246120"/>
            <a:ext cx="192024" cy="274320"/>
          </a:xfrm>
          <a:prstGeom prst="rightArrow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13325" y="2194560"/>
            <a:ext cx="1962302" cy="2377440"/>
          </a:xfrm>
          <a:prstGeom prst="roundRect">
            <a:avLst>
              <a:gd name="adj" fmla="val 5592"/>
            </a:avLst>
          </a:prstGeom>
          <a:solidFill>
            <a:srgbClr val="F3F6F9"/>
          </a:solidFill>
          <a:ln w="19050">
            <a:solidFill>
              <a:srgbClr val="0F8B8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20156" y="1874520"/>
            <a:ext cx="548640" cy="548640"/>
          </a:xfrm>
          <a:prstGeom prst="ellipse">
            <a:avLst/>
          </a:prstGeom>
          <a:solidFill>
            <a:srgbClr val="E07A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20156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04765" y="2606040"/>
            <a:ext cx="177942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250485" y="3337560"/>
            <a:ext cx="168798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users and time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093915" y="3246120"/>
            <a:ext cx="192024" cy="274320"/>
          </a:xfrm>
          <a:prstGeom prst="rightArrow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04227" y="2194560"/>
            <a:ext cx="1962302" cy="2377440"/>
          </a:xfrm>
          <a:prstGeom prst="roundRect">
            <a:avLst>
              <a:gd name="adj" fmla="val 5592"/>
            </a:avLst>
          </a:prstGeom>
          <a:solidFill>
            <a:srgbClr val="DDF1F0"/>
          </a:solidFill>
          <a:ln w="19050">
            <a:solidFill>
              <a:srgbClr val="0F8B8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11058" y="1874520"/>
            <a:ext cx="548640" cy="548640"/>
          </a:xfrm>
          <a:prstGeom prst="ellipse">
            <a:avLst/>
          </a:prstGeom>
          <a:solidFill>
            <a:srgbClr val="E07A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11058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95667" y="2606040"/>
            <a:ext cx="177942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441387" y="3337560"/>
            <a:ext cx="168798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peeking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284818" y="3246120"/>
            <a:ext cx="192024" cy="274320"/>
          </a:xfrm>
          <a:prstGeom prst="rightArrow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495130" y="2194560"/>
            <a:ext cx="1962302" cy="2377440"/>
          </a:xfrm>
          <a:prstGeom prst="roundRect">
            <a:avLst>
              <a:gd name="adj" fmla="val 5592"/>
            </a:avLst>
          </a:prstGeom>
          <a:solidFill>
            <a:srgbClr val="F3F6F9"/>
          </a:solidFill>
          <a:ln w="19050">
            <a:solidFill>
              <a:srgbClr val="0F8B8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201961" y="1874520"/>
            <a:ext cx="548640" cy="548640"/>
          </a:xfrm>
          <a:prstGeom prst="ellipse">
            <a:avLst/>
          </a:prstGeom>
          <a:solidFill>
            <a:srgbClr val="E07A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201961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586570" y="2606040"/>
            <a:ext cx="177942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9632290" y="3337560"/>
            <a:ext cx="168798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Ship, iterate, or drop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patterns vs ethical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· Module 5 · Growth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68712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12064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6304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pattern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31520" y="2057400"/>
            <a:ext cx="5120640" cy="3931920"/>
          </a:xfrm>
          <a:prstGeom prst="rect">
            <a:avLst/>
          </a:prstGeom>
          <a:solidFill>
            <a:srgbClr val="F3F6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24028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Pre-ticked paid add-ons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fees at checkout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Hard-to-find cancel option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urgency timers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309360" y="1463040"/>
            <a:ext cx="5120640" cy="59436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46304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alternative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309360" y="2057400"/>
            <a:ext cx="5120640" cy="3931920"/>
          </a:xfrm>
          <a:prstGeom prst="rect">
            <a:avLst/>
          </a:prstGeom>
          <a:solidFill>
            <a:srgbClr val="F3F6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24028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add-ons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price shown upfront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cancel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stock information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Product-led growth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· Module 5 · Growth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68712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10725912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drives acquisition and expansion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trial or freemium entry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time-to-value in onboarding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sharing and collaboration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loops: one user's output attracts the next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launch and measure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· Module 5 · Growth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68712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148840"/>
            <a:ext cx="10725912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GTM summary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key AARRR metric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one A/B test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launch-readiness checks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rollback trigger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· Module 5 · Growth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68712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10725912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launches with metrics and rollback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on value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leakiest funnel stage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cohorts to see real retention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discipline; design with ethics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· Module 5 · Growth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68712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148840"/>
            <a:ext cx="10725912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freemium right for B2B software?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should you stop an A/B test early?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line between persuasion and manipulation?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5: Launch, Growth, and Product Analytics</dc:title>
  <dc:subject>PptxGenJS Presentation</dc:subject>
  <dc:creator>Product Management course</dc:creator>
  <cp:lastModifiedBy>Product Management course</cp:lastModifiedBy>
  <cp:revision>1</cp:revision>
  <dcterms:created xsi:type="dcterms:W3CDTF">2026-10-16T03:42:48Z</dcterms:created>
  <dcterms:modified xsi:type="dcterms:W3CDTF">2026-10-16T03:42:48Z</dcterms:modified>
</cp:coreProperties>
</file>