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Retained users (%)</c:v>
                </c:pt>
              </c:strCache>
            </c:strRef>
          </c:tx>
          <c:spPr>
            <a:solidFill>
              <a:srgbClr val="0F8B8D"/>
            </a:solidFill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  <c:pt idx="4">
                    <c:v>P4</c:v>
                  </c:pt>
                  <c:pt idx="5">
                    <c:v>P5</c:v>
                  </c:pt>
                  <c:pt idx="6">
                    <c:v>P6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46</c:v>
                </c:pt>
                <c:pt idx="2">
                  <c:v>33</c:v>
                </c:pt>
                <c:pt idx="3">
                  <c:v>28</c:v>
                </c:pt>
                <c:pt idx="4">
                  <c:v>26</c:v>
                </c:pt>
                <c:pt idx="5">
                  <c:v>25</c:v>
                </c:pt>
                <c:pt idx="6">
                  <c:v>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fit (falls to zero)</c:v>
                </c:pt>
              </c:strCache>
            </c:strRef>
          </c:tx>
          <c:spPr>
            <a:solidFill>
              <a:srgbClr val="E07A1F"/>
            </a:solidFill>
            <a:ln w="38100" cap="flat">
              <a:solidFill>
                <a:srgbClr val="E07A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7A1F"/>
              </a:solidFill>
              <a:ln w="9525" cap="flat">
                <a:solidFill>
                  <a:srgbClr val="E07A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  <c:pt idx="4">
                    <c:v>P4</c:v>
                  </c:pt>
                  <c:pt idx="5">
                    <c:v>P5</c:v>
                  </c:pt>
                  <c:pt idx="6">
                    <c:v>P6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Strategy is about choices, including what not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backlog item should trace back up this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two curves: one that falls to zero and one that flattens. Ask which product has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example for a food-delivery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the calculation, then open the RICE calculator.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visual alternative to RICE for workshops.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Delighters become basics over time: ask for examples (e.g. free returns).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a dated feature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Product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Strategy, Vision, and Prioritisation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where to go, what matters most, and what to leave out.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/ PGDM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vision and a strategy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product–market fit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North Star and input metrics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with RICE, MoSCoW, and Kano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outcome-based roadmap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vision to backlog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38351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8351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going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712110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2422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29254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9254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3862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59582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win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03013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13325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0156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01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04765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/ OKRs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50485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93915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04227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11058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1058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95667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41387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over time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284818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95130" y="2194560"/>
            <a:ext cx="1962302" cy="2377440"/>
          </a:xfrm>
          <a:prstGeom prst="roundRect">
            <a:avLst>
              <a:gd name="adj" fmla="val 5592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01961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01961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86570" y="2606040"/>
            <a:ext cx="177942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632290" y="3337560"/>
            <a:ext cx="168798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 do now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Product–market fit: retention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46720" y="146304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146304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leave early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046720" y="25603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DDF1F0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0" y="256032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keeps falling: no fit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046720" y="365760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365760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 flattens: fit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046720" y="47548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DDF1F0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0" y="4754880"/>
            <a:ext cx="3291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users stay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31520" y="58521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shape, not real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and input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(example)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delivered on time to repeat customers per week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customer value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revenue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5120640" cy="5943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metrics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57400"/>
            <a:ext cx="5120640" cy="3931920"/>
          </a:xfrm>
          <a:prstGeom prst="rect">
            <a:avLst/>
          </a:prstGeom>
          <a:solidFill>
            <a:srgbClr val="F3F6F9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coverage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Delivery-time accuracy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of new users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scoring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users per quarter?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per user? (0.25–3)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sure are we?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Person-months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× I × C ÷ 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vs effort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1463040"/>
            <a:ext cx="4572000" cy="2240280"/>
          </a:xfrm>
          <a:prstGeom prst="rect">
            <a:avLst/>
          </a:prstGeom>
          <a:solidFill>
            <a:srgbClr val="DDF1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691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3317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value, low effort: do first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4572000" cy="2240280"/>
          </a:xfrm>
          <a:prstGeom prst="rect">
            <a:avLst/>
          </a:prstGeom>
          <a:solidFill>
            <a:srgbClr val="E7E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691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bets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value, high effort: plan carefully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463040" y="3840480"/>
            <a:ext cx="4572000" cy="2240280"/>
          </a:xfrm>
          <a:prstGeom prst="rect">
            <a:avLst/>
          </a:prstGeom>
          <a:solidFill>
            <a:srgbClr val="FFF1E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4069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Fill-ins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47091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value, low effort: if time allows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4572000" cy="2240280"/>
          </a:xfrm>
          <a:prstGeom prst="rect">
            <a:avLst/>
          </a:prstGeom>
          <a:solidFill>
            <a:srgbClr val="F3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69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pits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47091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value, high effort: avoid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25912" cy="914400"/>
        </p:xfrm>
        <a:graphic>
          <a:graphicData uri="http://schemas.openxmlformats.org/drawingml/2006/table">
            <a:tbl>
              <a:tblPr/>
              <a:tblGrid>
                <a:gridCol w="3575304"/>
                <a:gridCol w="3575304"/>
                <a:gridCol w="357530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absent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present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dissatisfied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Dissatisfied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Satisfied (more is better)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Delighter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Delighted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Now–Next–Later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422904" cy="2377440"/>
          </a:xfrm>
          <a:prstGeom prst="roundRect">
            <a:avLst>
              <a:gd name="adj" fmla="val 4615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68652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8652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3240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31485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Committed, well understood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72712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3024" y="2194560"/>
            <a:ext cx="3422904" cy="2377440"/>
          </a:xfrm>
          <a:prstGeom prst="roundRect">
            <a:avLst>
              <a:gd name="adj" fmla="val 4615"/>
            </a:avLst>
          </a:prstGeom>
          <a:solidFill>
            <a:srgbClr val="DDF1F0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20156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01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74464" y="2606040"/>
            <a:ext cx="3240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20184" y="3337560"/>
            <a:ext cx="31485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Likely, being explored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24216" y="3246120"/>
            <a:ext cx="192024" cy="274320"/>
          </a:xfrm>
          <a:prstGeom prst="rightArrow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4528" y="2194560"/>
            <a:ext cx="3422904" cy="2377440"/>
          </a:xfrm>
          <a:prstGeom prst="roundRect">
            <a:avLst>
              <a:gd name="adj" fmla="val 4615"/>
            </a:avLst>
          </a:prstGeom>
          <a:solidFill>
            <a:srgbClr val="F3F6F9"/>
          </a:solidFill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71660" y="1874520"/>
            <a:ext cx="548640" cy="54864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16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5968" y="2606040"/>
            <a:ext cx="3240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171688" y="3337560"/>
            <a:ext cx="314858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Directional, may change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prioritise and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7259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sample backlog in the RICE calculator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scores and justify your assumptions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MoSCoW sort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Now–Next–Later roadmap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one item you left out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72591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means choosing what not to do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the clearest fit signal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= customer value that predicts success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support, not replace, judgement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Roadmaps show outcomes, not promises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280160" cy="0"/>
          </a:xfrm>
          <a:prstGeom prst="line">
            <a:avLst/>
          </a:prstGeom>
          <a:noFill/>
          <a:ln w="38100">
            <a:solidFill>
              <a:srgbClr val="E07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· Module 3 · Strategy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68712" y="6355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1072591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one big customer change your roadmap?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North Star metric be gamed? How?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a company buy rather than build?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Product Strategy, Vision, and Prioritisation</dc:title>
  <dc:subject>PptxGenJS Presentation</dc:subject>
  <dc:creator>Product Management course</dc:creator>
  <cp:lastModifiedBy>Product Management course</cp:lastModifiedBy>
  <cp:revision>1</cp:revision>
  <dcterms:created xsi:type="dcterms:W3CDTF">2026-10-16T03:42:48Z</dcterms:created>
  <dcterms:modified xsi:type="dcterms:W3CDTF">2026-10-16T03:42:48Z</dcterms:modified>
</cp:coreProperties>
</file>